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B85C74"/>
                </a:solidFill>
                <a:latin typeface="Calibri"/>
              </a:rPr>
              <a:t>STUDI KASUS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800" b="1">
                <a:solidFill>
                  <a:srgbClr val="1F2937"/>
                </a:solidFill>
                <a:latin typeface="Calibri"/>
              </a:rPr>
              <a:t>Analisis Penggunaan Smart Device untuk Bellabeat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B7280"/>
                </a:solidFill>
                <a:latin typeface="Calibri"/>
              </a:rPr>
              <a:t>Dari data aktivitas harian Fitbit menjadi rekomendasi pemasaran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SQL (SQLite) · Power BI · Tableau · Novaldi Ramadhan Waluyo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Tujuan dan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Pertanyaan bisnis. </a:t>
            </a:r>
            <a:r>
              <a:rPr sz="1600" b="0">
                <a:solidFill>
                  <a:srgbClr val="1F2937"/>
                </a:solidFill>
                <a:latin typeface="Calibri"/>
              </a:rPr>
              <a:t>Bagaimana orang memakai fitness tracker, dan apa artinya bagi strategi pemasaran Bellabeat?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Sumber. </a:t>
            </a:r>
            <a:r>
              <a:rPr sz="1600" b="0">
                <a:solidFill>
                  <a:srgbClr val="1F2937"/>
                </a:solidFill>
                <a:latin typeface="Calibri"/>
              </a:rPr>
              <a:t>FitBit Fitness Tracker Data (Möbius, Kaggle, CC0), ekspor Fitabase 12 Maret – 12 April 2016.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Catatan. </a:t>
            </a:r>
            <a:r>
              <a:rPr sz="1600" b="0">
                <a:solidFill>
                  <a:srgbClr val="1F2937"/>
                </a:solidFill>
                <a:latin typeface="Calibri"/>
              </a:rPr>
              <a:t>Pengguna dalam data ini bukan pelanggan Bellabeat, sehingga temuan bersifat arah, bukan kepastian.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645920"/>
            <a:ext cx="2423160" cy="13716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B85C74"/>
                </a:solidFill>
                <a:latin typeface="Calibr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pengguna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645920"/>
            <a:ext cx="2423160" cy="13716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7830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B85C74"/>
                </a:solidFill>
                <a:latin typeface="Calibri"/>
              </a:rPr>
              <a:t>457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hari-pengguna tercatat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246120"/>
            <a:ext cx="2423160" cy="13716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38327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B85C74"/>
                </a:solidFill>
                <a:latin typeface="Calibr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69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hari rata-rata per pengguna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246120"/>
            <a:ext cx="2423160" cy="13716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338327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B85C74"/>
                </a:solidFill>
                <a:latin typeface="Calibri"/>
              </a:rPr>
              <a:t>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069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hari dengan 0 langkah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PROSES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Metode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Pemeriksaan data (SQL). </a:t>
            </a:r>
            <a:r>
              <a:rPr sz="1600" b="0">
                <a:solidFill>
                  <a:srgbClr val="1F2937"/>
                </a:solidFill>
                <a:latin typeface="Calibri"/>
              </a:rPr>
              <a:t>35 pengguna, 457 baris, tidak ada duplikat Id + tanggal. 61 hari (13%) mencatat 0 langkah, artinya alat tidak dipakai.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Hari dipakai saja. </a:t>
            </a:r>
            <a:r>
              <a:rPr sz="1600" b="0">
                <a:solidFill>
                  <a:srgbClr val="1F2937"/>
                </a:solidFill>
                <a:latin typeface="Calibri"/>
              </a:rPr>
              <a:t>Rata-rata dan segmen dihitung dari 396 hari ketika alat dipakai (langkah &gt; 0). Jika hari kosong ikut dihitung, rata-rata langkah turun dan pengguna yang jarang memakai alat terlihat lebih malas dari kenyataannya.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Segmentasi. </a:t>
            </a:r>
            <a:r>
              <a:rPr sz="1600" b="0">
                <a:solidFill>
                  <a:srgbClr val="1F2937"/>
                </a:solidFill>
                <a:latin typeface="Calibri"/>
              </a:rPr>
              <a:t>Rata-rata langkah harian per pengguna: Sedentary &lt; 5.000, Lightly Active 5.000–7.499, Fairly Active 7.500–9.999, Very Active ≥ 10.000.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Visualisasi. </a:t>
            </a:r>
            <a:r>
              <a:rPr sz="1600" b="0">
                <a:solidFill>
                  <a:srgbClr val="1F2937"/>
                </a:solidFill>
                <a:latin typeface="Calibri"/>
              </a:rPr>
              <a:t>Dashboard Power BI (model TMDL di repo) dan Tableau Public.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SEGMEN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Sekitar sepertiga pengguna tergolong sedentary</a:t>
            </a:r>
          </a:p>
        </p:txBody>
      </p:sp>
      <p:pic>
        <p:nvPicPr>
          <p:cNvPr id="4" name="Picture 3" descr="deck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3175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12 dari 34 pengguna (35%) rata-rata berjalan di bawah 5.000 langkah pada hari mereka memakai alat. Ini kelompok terbesar.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Rata-rata seluruh pengguna 7.555 langkah per hari, dan hanya 32% hari yang mencapai 10.000 langkah.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Satu pengguna tidak pernah memakai alat (semua hari 0 langkah), sehingga segmen dihitung dari 34 pengguna.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POLA MINGGUAN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Selasa adalah hari paling pasif</a:t>
            </a:r>
          </a:p>
        </p:txBody>
      </p:sp>
      <p:pic>
        <p:nvPicPr>
          <p:cNvPr id="4" name="Picture 3" descr="deck_week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096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Rata-rata langkah hari Selasa 5.980, terendah dalam seminggu. Hari lain berkisar 7.150–8.204 langkah.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Waktu sedentary tercatat 15,7 jam per hari dipakai, dengan sekitar 32 menit aktivitas sedang-berat. Fitbit juga menghitung waktu tidur yang tidak tercatat sebagai sedentary, jadi angka ini bukan murni waktu duduk.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KEBIASAAN MEMAKAI ALAT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13% hari alat tidak dipakai</a:t>
            </a:r>
          </a:p>
        </p:txBody>
      </p:sp>
      <p:pic>
        <p:nvPicPr>
          <p:cNvPr id="4" name="Picture 3" descr="deck_step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068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61 dari 457 hari mencatat 0 langkah, berasal dari 14 dari 35 pengguna.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Data tidur (tabel terpisah, tidak termasuk di repo ini) hanya tercatat untuk 23 dari 35 pengguna.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Kemungkinan penyebab: alat tidak nyaman dipakai terus-menerus atau dilepas untuk diisi daya. Data ini tidak bisa membuktikan penyebabnya.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Tiga rekomendasi pemasaran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20440" cy="420624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85C74"/>
                </a:solidFill>
                <a:latin typeface="Calibri"/>
              </a:rPr>
              <a:t>1. Jual kebiasaan kecil, bukan olahraga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Kelompok terbesar (35%) adalah pengguna sedentary. Posisikan produk seperti botol Spring sebagai alat kebiasaan harian (minum air, jalan singkat).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645920"/>
            <a:ext cx="3520440" cy="420624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85C74"/>
                </a:solidFill>
                <a:latin typeface="Calibri"/>
              </a:rPr>
              <a:t>2. Manfaatkan hari pasif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Kirim pengingat atau tantangan langkah pada hari Selasa, saat rata-rata langkah paling rendah (5.980).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645920"/>
            <a:ext cx="3520440" cy="420624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85C74"/>
                </a:solidFill>
                <a:latin typeface="Calibri"/>
              </a:rPr>
              <a:t>3. Tonjolkan kenyamanan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13% hari alat tidak dipakai dan data tidur sering kosong. Promosikan Leaf sebagai klip ringan yang nyaman dipakai seharian dan saat tidur.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B85C74"/>
                </a:solidFill>
                <a:latin typeface="Calibri"/>
              </a:rPr>
              <a:t>CARA MEMBACA HASIL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1F2937"/>
                </a:solidFill>
                <a:latin typeface="Calibri"/>
              </a:rPr>
              <a:t>Keterbatasan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Sampel kecil: 35 pengguna, rata-rata 13 hari per pengguna, tanpa data demografi.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Pengguna Fitbit ini belum tentu mewakili target pasar Bellabeat (perempuan).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Pola per jam dan data tidur berasal dari tabel lain di dataset yang sama dan tidak disertakan di repo ini; angka tersebut perlu diverifikasi ulang sebelum dipakai untuk menjadwalkan kampanye.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Rekomendasi bersifat arah dan sebaiknya diuji, misalnya dengan A/B test waktu notifikasi.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1F2937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6B7280"/>
                </a:solidFill>
                <a:latin typeface="Calibri"/>
              </a:rPr>
              <a:t>Novaldi Ramadhan Waluyo · github.com/Achimedes28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