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236589"/>
            <a:ext cx="11601450" cy="1462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b="1" sz="4800" i="0" u="none">
                <a:solidFill>
                  <a:srgbClr val="2D3748"/>
                </a:solidFill>
                <a:latin typeface="Playfair Display"/>
              </a:rPr>
              <a:t>Analisis Tren Penggunaan Smart Device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890069"/>
            <a:ext cx="76200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718096"/>
                </a:solidFill>
                <a:latin typeface="DM Sans"/>
              </a:rPr>
              <a:t>Menerjemahkan Data Menjadi Peluang Pemasaran Strategis untuk Bellabeat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65596" y="2123182"/>
            <a:ext cx="6460807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2D3748"/>
                </a:solidFill>
                <a:latin typeface="Playfair Display"/>
              </a:rPr>
              <a:t>Latar Belakang &amp; Tujuan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0" y="3313807"/>
            <a:ext cx="762000" cy="38100"/>
          </a:xfrm>
          <a:prstGeom prst="rect">
            <a:avLst/>
          </a:prstGeom>
          <a:solidFill>
            <a:srgbClr val="C8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637657"/>
            <a:ext cx="7620000" cy="1097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718096"/>
                </a:solidFill>
                <a:latin typeface="DM Sans"/>
              </a:rPr>
              <a:t>Membedah data aktivitas harian pengguna non-Bellabeat untuk memahami perilaku konsumen dan merancang kampanye pemasaran yang tepat sasaran.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981051"/>
            <a:ext cx="52387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159347"/>
            <a:ext cx="52387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A5568"/>
                </a:solidFill>
                <a:latin typeface="DM Sans"/>
              </a:rPr>
              <a:t>Bellabeat adalah pelopor produk teknologi kesehatan bagi wanita. Untuk mendominasi pasar global, kita perlu memahami pola kebiasaan audiens kita.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3311872"/>
            <a:ext cx="49530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A5568"/>
                </a:solidFill>
                <a:latin typeface="DM Sans"/>
              </a:rPr>
              <a:t>Analisis Dataset Publik:</a:t>
            </a:r>
            <a:r>
              <a:rPr b="0" sz="1350" i="0" u="none">
                <a:solidFill>
                  <a:srgbClr val="4A5568"/>
                </a:solidFill>
                <a:latin typeface="DM Sans"/>
              </a:rPr>
              <a:t> Mengolah data Fitbit dari 35 pengguna aktif selama satu bulan penuh.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050952"/>
            <a:ext cx="49530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A5568"/>
                </a:solidFill>
                <a:latin typeface="DM Sans"/>
              </a:rPr>
              <a:t>Eksplorasi Perilaku:</a:t>
            </a:r>
            <a:r>
              <a:rPr b="0" sz="1350" i="0" u="none">
                <a:solidFill>
                  <a:srgbClr val="4A5568"/>
                </a:solidFill>
                <a:latin typeface="DM Sans"/>
              </a:rPr>
              <a:t> Mengidentifikasi kapan pengguna paling aktif bergerak dan kapan mereka beristirahat.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4790033"/>
            <a:ext cx="49530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A5568"/>
                </a:solidFill>
                <a:latin typeface="DM Sans"/>
              </a:rPr>
              <a:t>Peluang Bisnis:</a:t>
            </a:r>
            <a:r>
              <a:rPr b="0" sz="1350" i="0" u="none">
                <a:solidFill>
                  <a:srgbClr val="4A5568"/>
                </a:solidFill>
                <a:latin typeface="DM Sans"/>
              </a:rPr>
              <a:t> Menemukan celah di mana produk Bellabeat (Leaf, Time, Spring) dapat memecahkan masalah rutinitas harian mereka.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981051"/>
            <a:ext cx="5238750" cy="381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3330922"/>
            <a:ext cx="1333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87A8A"/>
                </a:solidFill>
                <a:latin typeface="DM Sans"/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070002"/>
            <a:ext cx="1333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87A8A"/>
                </a:solidFill>
                <a:latin typeface="DM Sans"/>
              </a:rPr>
              <a:t>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809083"/>
            <a:ext cx="1333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87A8A"/>
                </a:solidFill>
                <a:latin typeface="DM Sans"/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D3748"/>
                </a:solidFill>
                <a:latin typeface="Playfair Display"/>
              </a:rPr>
              <a:t>Memahami </a:t>
            </a:r>
            <a:r>
              <a:rPr b="1" sz="3150" i="0" u="none">
                <a:solidFill>
                  <a:srgbClr val="C87A8A"/>
                </a:solidFill>
                <a:latin typeface="Playfair Display"/>
              </a:rPr>
              <a:t>Konsumen Bellabeat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62212"/>
            <a:ext cx="5238750" cy="284782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2462212"/>
            <a:ext cx="5238750" cy="28478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852737"/>
            <a:ext cx="4680585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2D3748"/>
                </a:solidFill>
                <a:latin typeface="Playfair Display SemiBold"/>
              </a:rPr>
              <a:t>1. Pemrosesan Data (SQL)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376612"/>
            <a:ext cx="4457700" cy="13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A5568"/>
                </a:solidFill>
                <a:latin typeface="DM Sans"/>
              </a:rPr>
              <a:t>Menggunakan SQLite untuk mengekstraksi, membersihkan, dan memvalidasi jutaan baris data mentah. Ini mencakup deteksi anomali nilai nol, penghapusan duplikasi, hingga ekstraksi string tanggal menjadi jam spesifik untuk analisis </a:t>
            </a:r>
            <a:r>
              <a:rPr b="0" sz="1350" i="1" u="none">
                <a:solidFill>
                  <a:srgbClr val="4A5568"/>
                </a:solidFill>
                <a:latin typeface="DM Sans"/>
              </a:rPr>
              <a:t>intraday</a:t>
            </a:r>
            <a:r>
              <a:rPr b="0" sz="1350" i="0" u="none">
                <a:solidFill>
                  <a:srgbClr val="4A5568"/>
                </a:solidFill>
                <a:latin typeface="DM Sans"/>
              </a:rPr>
              <a:t> yang presisi.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2275" y="2852737"/>
            <a:ext cx="4680585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2D3748"/>
                </a:solidFill>
                <a:latin typeface="Playfair Display SemiBold"/>
              </a:rPr>
              <a:t>2. Visualisasi (Tableau)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275" y="3376612"/>
            <a:ext cx="4457700" cy="13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A5568"/>
                </a:solidFill>
                <a:latin typeface="DM Sans"/>
              </a:rPr>
              <a:t>Menerjemahkan tabel hasil query yang rumit menjadi </a:t>
            </a:r>
            <a:r>
              <a:rPr b="0" sz="1350" i="1" u="none">
                <a:solidFill>
                  <a:srgbClr val="4A5568"/>
                </a:solidFill>
                <a:latin typeface="DM Sans"/>
              </a:rPr>
              <a:t>dashboard</a:t>
            </a:r>
            <a:r>
              <a:rPr b="0" sz="1350" i="0" u="none">
                <a:solidFill>
                  <a:srgbClr val="4A5568"/>
                </a:solidFill>
                <a:latin typeface="DM Sans"/>
              </a:rPr>
              <a:t> analitik interaktif. Pendekatan visualisasi ini dirancang untuk menyoroti tren utama secara instan, memfasilitasi pengambilan keputusan strategis tingkat eksekutif dengan cepat dan akurat.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D3748"/>
                </a:solidFill>
                <a:latin typeface="Playfair Display"/>
              </a:rPr>
              <a:t>Metodologi </a:t>
            </a:r>
            <a:r>
              <a:rPr b="1" sz="3150" i="0" u="none">
                <a:solidFill>
                  <a:srgbClr val="C87A8A"/>
                </a:solidFill>
                <a:latin typeface="Playfair Display"/>
              </a:rPr>
              <a:t>Analisis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65671" y="2306091"/>
            <a:ext cx="5260657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2D3748"/>
                </a:solidFill>
                <a:latin typeface="Playfair Display"/>
              </a:rPr>
              <a:t>Temuan Utama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0" y="3496716"/>
            <a:ext cx="762000" cy="38100"/>
          </a:xfrm>
          <a:prstGeom prst="rect">
            <a:avLst/>
          </a:prstGeom>
          <a:solidFill>
            <a:srgbClr val="C8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820566"/>
            <a:ext cx="76200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718096"/>
                </a:solidFill>
                <a:latin typeface="DM Sans"/>
              </a:rPr>
              <a:t>Insight perilaku dari proses klasifikasi harian, pelacakan tidur, dan fluktuasi aktivitas per jam.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40184"/>
            <a:ext cx="11049000" cy="529203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950" y="5431184"/>
            <a:ext cx="9944100" cy="9295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325784"/>
            <a:ext cx="116014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D3748"/>
                </a:solidFill>
                <a:latin typeface="Playfair Display"/>
              </a:rPr>
              <a:t>Dominasi Segmen </a:t>
            </a:r>
            <a:r>
              <a:rPr b="1" sz="3150" i="0" u="none">
                <a:solidFill>
                  <a:srgbClr val="C87A8A"/>
                </a:solidFill>
                <a:latin typeface="Playfair Display"/>
              </a:rPr>
              <a:t>Sedentary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965001"/>
            <a:ext cx="11049000" cy="58425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950" y="5706516"/>
            <a:ext cx="9944100" cy="9295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0601"/>
            <a:ext cx="116014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D3748"/>
                </a:solidFill>
                <a:latin typeface="Playfair Display"/>
              </a:rPr>
              <a:t>Tren Aktivitas Harian </a:t>
            </a:r>
            <a:r>
              <a:rPr b="1" sz="3150" i="0" u="none">
                <a:solidFill>
                  <a:srgbClr val="C87A8A"/>
                </a:solidFill>
                <a:latin typeface="Playfair Display"/>
              </a:rPr>
              <a:t>(Intraday)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988915"/>
            <a:ext cx="523875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b="1" sz="10500" i="0" u="none">
                <a:solidFill>
                  <a:srgbClr val="C87A8A"/>
                </a:solidFill>
                <a:latin typeface="Playfair Display"/>
              </a:rPr>
              <a:t>34%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417665"/>
            <a:ext cx="523875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1" sz="1800" i="0" u="none">
                <a:solidFill>
                  <a:srgbClr val="2D3748"/>
                </a:solidFill>
                <a:latin typeface="DM Sans"/>
              </a:rPr>
              <a:t>DROP-OFF RATE (TIDUR)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1750" y="2492722"/>
            <a:ext cx="5500687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2D3748"/>
                </a:solidFill>
                <a:latin typeface="Playfair Display SemiBold"/>
              </a:rPr>
              <a:t>Analisis Kenyamanan Perangkat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1750" y="3016597"/>
            <a:ext cx="52387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A5568"/>
                </a:solidFill>
                <a:latin typeface="DM Sans"/>
              </a:rPr>
              <a:t>Dari total 35 pengguna aktif, hanya 23 pengguna yang mempertahankan perangkat mereka saat tidur. Terjadi penurunan drastis sebesar 34% (12 pengguna).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1750" y="4010917"/>
            <a:ext cx="52387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A5568"/>
                </a:solidFill>
                <a:latin typeface="DM Sans"/>
              </a:rPr>
              <a:t>Hal ini mengindikasikan bahwa </a:t>
            </a:r>
            <a:r>
              <a:rPr b="0" sz="1350" i="1" u="none">
                <a:solidFill>
                  <a:srgbClr val="4A5568"/>
                </a:solidFill>
                <a:latin typeface="DM Sans"/>
              </a:rPr>
              <a:t>smartwatch</a:t>
            </a:r>
            <a:r>
              <a:rPr b="0" sz="1350" i="0" u="none">
                <a:solidFill>
                  <a:srgbClr val="4A5568"/>
                </a:solidFill>
                <a:latin typeface="DM Sans"/>
              </a:rPr>
              <a:t> atau </a:t>
            </a:r>
            <a:r>
              <a:rPr b="0" sz="1350" i="1" u="none">
                <a:solidFill>
                  <a:srgbClr val="4A5568"/>
                </a:solidFill>
                <a:latin typeface="DM Sans"/>
              </a:rPr>
              <a:t>fitness tracker</a:t>
            </a:r>
            <a:r>
              <a:rPr b="0" sz="1350" i="0" u="none">
                <a:solidFill>
                  <a:srgbClr val="4A5568"/>
                </a:solidFill>
                <a:latin typeface="DM Sans"/>
              </a:rPr>
              <a:t> konvensional milik kompetitor seringkali tidak nyaman digunakan di tempat tidur, atau pengguna melepasnya untuk keperluan pengisian daya baterai.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D3748"/>
                </a:solidFill>
                <a:latin typeface="Playfair Display"/>
              </a:rPr>
              <a:t>Penurunan Pelacakan </a:t>
            </a:r>
            <a:r>
              <a:rPr b="1" sz="3150" i="0" u="none">
                <a:solidFill>
                  <a:srgbClr val="C87A8A"/>
                </a:solidFill>
                <a:latin typeface="Playfair Display"/>
              </a:rPr>
              <a:t>Malam Hari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0465" y="2306091"/>
            <a:ext cx="8551068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2D3748"/>
                </a:solidFill>
                <a:latin typeface="Playfair Display"/>
              </a:rPr>
              <a:t>Rekomendasi Strategis (Fase Act)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0" y="3496716"/>
            <a:ext cx="762000" cy="38100"/>
          </a:xfrm>
          <a:prstGeom prst="rect">
            <a:avLst/>
          </a:prstGeom>
          <a:solidFill>
            <a:srgbClr val="C8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820566"/>
            <a:ext cx="76200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718096"/>
                </a:solidFill>
                <a:latin typeface="DM Sans"/>
              </a:rPr>
              <a:t>Menerjemahkan wawasan data analitik menjadi tiga pilar aksi nyata untuk mendorong pertumbuhan merek Bellabeat.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12701"/>
            <a:ext cx="3492549" cy="45469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612701"/>
            <a:ext cx="3492549" cy="454699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612701"/>
            <a:ext cx="3492549" cy="45469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2736651"/>
            <a:ext cx="2900362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2D3748"/>
                </a:solidFill>
                <a:latin typeface="Playfair Display SemiBold"/>
              </a:rPr>
              <a:t>1. Fokus "Micro-Habit"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403401"/>
            <a:ext cx="2901999" cy="2194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A5568"/>
                </a:solidFill>
                <a:latin typeface="DM Sans"/>
              </a:rPr>
              <a:t>Karena 40% target didominasi segmen </a:t>
            </a:r>
            <a:r>
              <a:rPr b="0" sz="1350" i="1" u="none">
                <a:solidFill>
                  <a:srgbClr val="4A5568"/>
                </a:solidFill>
                <a:latin typeface="DM Sans"/>
              </a:rPr>
              <a:t>Sedentary</a:t>
            </a:r>
            <a:r>
              <a:rPr b="0" sz="1350" i="0" u="none">
                <a:solidFill>
                  <a:srgbClr val="4A5568"/>
                </a:solidFill>
                <a:latin typeface="DM Sans"/>
              </a:rPr>
              <a:t>, posisikan Bellabeat bukan sekadar untuk olahraga berat, melainkan pengelola kesehatan holistik. Pemasaran harus menonjolkan fitur pengingat hidrasi (botol Spring) atau jalan santai ringan.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5074" y="2736651"/>
            <a:ext cx="2700337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2D3748"/>
                </a:solidFill>
                <a:latin typeface="Playfair Display SemiBold"/>
              </a:rPr>
              <a:t>2. Optimasi Interaksi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074" y="3403401"/>
            <a:ext cx="2901999" cy="1920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A5568"/>
                </a:solidFill>
                <a:latin typeface="DM Sans"/>
              </a:rPr>
              <a:t>Alokasikan anggaran terbesar untuk iklan digital (Instagram/Google) tepat sebelum jam 12 PM dan 6 PM. Fitur </a:t>
            </a:r>
            <a:r>
              <a:rPr b="0" sz="1350" i="1" u="none">
                <a:solidFill>
                  <a:srgbClr val="4A5568"/>
                </a:solidFill>
                <a:latin typeface="DM Sans"/>
              </a:rPr>
              <a:t>Bellabeat app</a:t>
            </a:r>
            <a:r>
              <a:rPr b="0" sz="1350" i="0" u="none">
                <a:solidFill>
                  <a:srgbClr val="4A5568"/>
                </a:solidFill>
                <a:latin typeface="DM Sans"/>
              </a:rPr>
              <a:t> juga harus mengirimkan notifikasi </a:t>
            </a:r>
            <a:r>
              <a:rPr b="0" sz="1350" i="1" u="none">
                <a:solidFill>
                  <a:srgbClr val="4A5568"/>
                </a:solidFill>
                <a:latin typeface="DM Sans"/>
              </a:rPr>
              <a:t>mindfulness</a:t>
            </a:r>
            <a:r>
              <a:rPr b="0" sz="1350" i="0" u="none">
                <a:solidFill>
                  <a:srgbClr val="4A5568"/>
                </a:solidFill>
                <a:latin typeface="DM Sans"/>
              </a:rPr>
              <a:t> secara proaktif menjelang jam puncak tersebut.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3374" y="2736651"/>
            <a:ext cx="2720340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2D3748"/>
                </a:solidFill>
                <a:latin typeface="Playfair Display SemiBold"/>
              </a:rPr>
              <a:t>3. Kenyamanan Tidur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3374" y="3403401"/>
            <a:ext cx="2901999" cy="1920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A5568"/>
                </a:solidFill>
                <a:latin typeface="DM Sans"/>
              </a:rPr>
              <a:t>Atasi keengganan pengguna memakai perangkat saat tidur dengan mempromosikan desain ergonomis Bellabeat Leaf. Soroti fleksibilitas Leaf yang bisa dijepitkan di kerah baju tidur untuk pelacakan malam yang nyaman tanpa beban.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050851"/>
            <a:ext cx="381000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050851"/>
            <a:ext cx="333375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050851"/>
            <a:ext cx="285750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D3748"/>
                </a:solidFill>
                <a:latin typeface="Playfair Display"/>
              </a:rPr>
              <a:t>3 Pilar Strategi </a:t>
            </a:r>
            <a:r>
              <a:rPr b="1" sz="3150" i="0" u="none">
                <a:solidFill>
                  <a:srgbClr val="C87A8A"/>
                </a:solidFill>
                <a:latin typeface="Playfair Display"/>
              </a:rPr>
              <a:t>Pemasaran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136427"/>
            <a:ext cx="7620000" cy="25849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95600" y="2707927"/>
            <a:ext cx="640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2D3748"/>
                </a:solidFill>
                <a:latin typeface="Playfair Display"/>
              </a:rPr>
              <a:t>Empowering Women's Wellness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0" y="3155602"/>
            <a:ext cx="60960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2D3748"/>
                </a:solidFill>
                <a:latin typeface="DM Sans"/>
              </a:rPr>
              <a:t>Dengan pendekatan berbasis data, Bellabeat memiliki posisi strategis untuk mendominasi pasar </a:t>
            </a:r>
            <a:r>
              <a:rPr b="0" sz="1350" i="1" u="none">
                <a:solidFill>
                  <a:srgbClr val="2D3748"/>
                </a:solidFill>
                <a:latin typeface="DM Sans"/>
              </a:rPr>
              <a:t>wellness technology</a:t>
            </a:r>
            <a:r>
              <a:rPr b="0" sz="1350" i="0" u="none">
                <a:solidFill>
                  <a:srgbClr val="2D3748"/>
                </a:solidFill>
                <a:latin typeface="DM Sans"/>
              </a:rPr>
              <a:t> dengan menyediakan solusi elegan yang berpusat pada kenyamanan dan rutinitas alami wanita.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298352"/>
            <a:ext cx="116014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2D3748"/>
                </a:solidFill>
                <a:latin typeface="Playfair Display"/>
              </a:rP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441352"/>
            <a:ext cx="110490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4A5568"/>
                </a:solidFill>
                <a:latin typeface="DM Sans"/>
              </a:rPr>
              <a:t>Sesi Diskusi &amp; Tanya Jawab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283273"/>
            <a:ext cx="110490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C87A8A"/>
                </a:solidFill>
                <a:latin typeface="DM Sans"/>
              </a:rPr>
              <a:t>Data Analyst Portfolio Showcase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3007072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78231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78231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5649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6875" y="3149947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A5568"/>
                </a:solidFill>
                <a:latin typeface="DM Sans"/>
              </a:rPr>
              <a:t>https://d39l2hkdp2esp1.cloudfront.net/img/photo/274853/274853_00_2x.jpg?20230514120641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3395662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A5568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www.youworkforthem.com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40385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3934717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A5568"/>
                </a:solidFill>
                <a:latin typeface="DM Sans"/>
              </a:rPr>
              <a:t>https://elements-resized.envatousercontent.com/elements-video-cover-images/1e029c10-9a5e-45ed-9262-9018b3bd48e1/video_preview/video_preview_0000.jpg?w=500&amp;cf_fit=cover&amp;q=85&amp;format=auto&amp;s=6879fbbf38c2ab4fefbb62f087dd673adff78dcc0f034a213bc3356d5d598fbe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4378523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A5568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elements.envato.com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D3748"/>
                </a:solidFill>
                <a:latin typeface="Playfair Display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